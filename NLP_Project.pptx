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B"/>
    <a:srgbClr val="FEFE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5F27D-83AB-4C46-8D6F-0CEDA3401F90}" v="65" dt="2026-09-30T04:13:44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ya Dhulipala" userId="e2423ff0bf2d78d8" providerId="LiveId" clId="{D48B1125-CBC0-4249-B0C0-7EBBA294BEC9}"/>
    <pc:docChg chg="undo custSel addSld modSld sldOrd modMainMaster">
      <pc:chgData name="Nitya Dhulipala" userId="e2423ff0bf2d78d8" providerId="LiveId" clId="{D48B1125-CBC0-4249-B0C0-7EBBA294BEC9}" dt="2026-10-01T04:54:47.559" v="326"/>
      <pc:docMkLst>
        <pc:docMk/>
      </pc:docMkLst>
      <pc:sldChg chg="delSp modSp mod setBg">
        <pc:chgData name="Nitya Dhulipala" userId="e2423ff0bf2d78d8" providerId="LiveId" clId="{D48B1125-CBC0-4249-B0C0-7EBBA294BEC9}" dt="2026-09-30T04:14:06.132" v="289" actId="14100"/>
        <pc:sldMkLst>
          <pc:docMk/>
          <pc:sldMk cId="0" sldId="256"/>
        </pc:sldMkLst>
        <pc:spChg chg="mod">
          <ac:chgData name="Nitya Dhulipala" userId="e2423ff0bf2d78d8" providerId="LiveId" clId="{D48B1125-CBC0-4249-B0C0-7EBBA294BEC9}" dt="2026-09-30T04:14:01.951" v="28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4:06.132" v="289" actId="14100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Nitya Dhulipala" userId="e2423ff0bf2d78d8" providerId="LiveId" clId="{D48B1125-CBC0-4249-B0C0-7EBBA294BEC9}" dt="2026-09-30T04:08:08.469" v="27" actId="478"/>
          <ac:spMkLst>
            <pc:docMk/>
            <pc:sldMk cId="0" sldId="256"/>
            <ac:spMk id="12" creationId="{00000000-0000-0000-0000-000000000000}"/>
          </ac:spMkLst>
        </pc:spChg>
      </pc:sldChg>
      <pc:sldChg chg="delSp modSp mod setBg">
        <pc:chgData name="Nitya Dhulipala" userId="e2423ff0bf2d78d8" providerId="LiveId" clId="{D48B1125-CBC0-4249-B0C0-7EBBA294BEC9}" dt="2026-09-30T04:13:44.875" v="287"/>
        <pc:sldMkLst>
          <pc:docMk/>
          <pc:sldMk cId="0" sldId="257"/>
        </pc:sldMkLst>
        <pc:spChg chg="del">
          <ac:chgData name="Nitya Dhulipala" userId="e2423ff0bf2d78d8" providerId="LiveId" clId="{D48B1125-CBC0-4249-B0C0-7EBBA294BEC9}" dt="2026-09-30T04:11:37.678" v="182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08:25.845" v="44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Nitya Dhulipala" userId="e2423ff0bf2d78d8" providerId="LiveId" clId="{D48B1125-CBC0-4249-B0C0-7EBBA294BEC9}" dt="2026-09-30T03:37:13.141" v="25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3:36:28.714" v="8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3:37:07.449" v="24" actId="120"/>
          <ac:spMkLst>
            <pc:docMk/>
            <pc:sldMk cId="0" sldId="257"/>
            <ac:spMk id="13" creationId="{00000000-0000-0000-0000-000000000000}"/>
          </ac:spMkLst>
        </pc:spChg>
      </pc:sldChg>
      <pc:sldChg chg="delSp modSp mod setBg">
        <pc:chgData name="Nitya Dhulipala" userId="e2423ff0bf2d78d8" providerId="LiveId" clId="{D48B1125-CBC0-4249-B0C0-7EBBA294BEC9}" dt="2026-09-30T04:13:44.875" v="287"/>
        <pc:sldMkLst>
          <pc:docMk/>
          <pc:sldMk cId="0" sldId="258"/>
        </pc:sldMkLst>
        <pc:spChg chg="del">
          <ac:chgData name="Nitya Dhulipala" userId="e2423ff0bf2d78d8" providerId="LiveId" clId="{D48B1125-CBC0-4249-B0C0-7EBBA294BEC9}" dt="2026-09-30T04:11:39.345" v="183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08:35.884" v="52" actId="20577"/>
          <ac:spMkLst>
            <pc:docMk/>
            <pc:sldMk cId="0" sldId="258"/>
            <ac:spMk id="3" creationId="{00000000-0000-0000-0000-000000000000}"/>
          </ac:spMkLst>
        </pc:spChg>
      </pc:sldChg>
      <pc:sldChg chg="delSp modSp mod setBg">
        <pc:chgData name="Nitya Dhulipala" userId="e2423ff0bf2d78d8" providerId="LiveId" clId="{D48B1125-CBC0-4249-B0C0-7EBBA294BEC9}" dt="2026-09-30T04:13:44.875" v="287"/>
        <pc:sldMkLst>
          <pc:docMk/>
          <pc:sldMk cId="0" sldId="259"/>
        </pc:sldMkLst>
        <pc:spChg chg="del">
          <ac:chgData name="Nitya Dhulipala" userId="e2423ff0bf2d78d8" providerId="LiveId" clId="{D48B1125-CBC0-4249-B0C0-7EBBA294BEC9}" dt="2026-09-30T04:11:40.659" v="184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09:30.622" v="74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setBg">
        <pc:chgData name="Nitya Dhulipala" userId="e2423ff0bf2d78d8" providerId="LiveId" clId="{D48B1125-CBC0-4249-B0C0-7EBBA294BEC9}" dt="2026-09-30T04:19:16.885" v="306" actId="14100"/>
        <pc:sldMkLst>
          <pc:docMk/>
          <pc:sldMk cId="0" sldId="260"/>
        </pc:sldMkLst>
        <pc:spChg chg="add del mod">
          <ac:chgData name="Nitya Dhulipala" userId="e2423ff0bf2d78d8" providerId="LiveId" clId="{D48B1125-CBC0-4249-B0C0-7EBBA294BEC9}" dt="2026-09-30T04:09:48.113" v="106" actId="478"/>
          <ac:spMkLst>
            <pc:docMk/>
            <pc:sldMk cId="0" sldId="260"/>
            <ac:spMk id="4" creationId="{44B9D402-D44B-6B23-B11A-2E3F5406A1CB}"/>
          </ac:spMkLst>
        </pc:spChg>
        <pc:spChg chg="add mod">
          <ac:chgData name="Nitya Dhulipala" userId="e2423ff0bf2d78d8" providerId="LiveId" clId="{D48B1125-CBC0-4249-B0C0-7EBBA294BEC9}" dt="2026-09-30T04:15:44.271" v="298" actId="1076"/>
          <ac:spMkLst>
            <pc:docMk/>
            <pc:sldMk cId="0" sldId="260"/>
            <ac:spMk id="6" creationId="{3CBAF279-8167-24F1-1EEC-91B43BC21C95}"/>
          </ac:spMkLst>
        </pc:spChg>
        <pc:spChg chg="del mod">
          <ac:chgData name="Nitya Dhulipala" userId="e2423ff0bf2d78d8" providerId="LiveId" clId="{D48B1125-CBC0-4249-B0C0-7EBBA294BEC9}" dt="2026-09-30T03:35:50.517" v="3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Nitya Dhulipala" userId="e2423ff0bf2d78d8" providerId="LiveId" clId="{D48B1125-CBC0-4249-B0C0-7EBBA294BEC9}" dt="2026-09-30T03:35:52.451" v="4" actId="478"/>
          <ac:spMkLst>
            <pc:docMk/>
            <pc:sldMk cId="0" sldId="260"/>
            <ac:spMk id="56" creationId="{00000000-0000-0000-0000-000000000000}"/>
          </ac:spMkLst>
        </pc:spChg>
        <pc:spChg chg="del">
          <ac:chgData name="Nitya Dhulipala" userId="e2423ff0bf2d78d8" providerId="LiveId" clId="{D48B1125-CBC0-4249-B0C0-7EBBA294BEC9}" dt="2026-09-30T03:35:54.855" v="5" actId="478"/>
          <ac:spMkLst>
            <pc:docMk/>
            <pc:sldMk cId="0" sldId="260"/>
            <ac:spMk id="83" creationId="{00000000-0000-0000-0000-000000000000}"/>
          </ac:spMkLst>
        </pc:spChg>
        <pc:picChg chg="add del mod modCrop">
          <ac:chgData name="Nitya Dhulipala" userId="e2423ff0bf2d78d8" providerId="LiveId" clId="{D48B1125-CBC0-4249-B0C0-7EBBA294BEC9}" dt="2026-09-30T04:18:59.302" v="300" actId="478"/>
          <ac:picMkLst>
            <pc:docMk/>
            <pc:sldMk cId="0" sldId="260"/>
            <ac:picMk id="2" creationId="{00000000-0000-0000-0000-000000000000}"/>
          </ac:picMkLst>
        </pc:picChg>
        <pc:picChg chg="add mod modCrop">
          <ac:chgData name="Nitya Dhulipala" userId="e2423ff0bf2d78d8" providerId="LiveId" clId="{D48B1125-CBC0-4249-B0C0-7EBBA294BEC9}" dt="2026-09-30T04:19:16.885" v="306" actId="14100"/>
          <ac:picMkLst>
            <pc:docMk/>
            <pc:sldMk cId="0" sldId="260"/>
            <ac:picMk id="4" creationId="{F858F91C-E34A-A9EE-8DB3-DFCE1A568578}"/>
          </ac:picMkLst>
        </pc:picChg>
        <pc:picChg chg="add del mod modCrop">
          <ac:chgData name="Nitya Dhulipala" userId="e2423ff0bf2d78d8" providerId="LiveId" clId="{D48B1125-CBC0-4249-B0C0-7EBBA294BEC9}" dt="2026-09-30T04:18:58.001" v="299" actId="478"/>
          <ac:picMkLst>
            <pc:docMk/>
            <pc:sldMk cId="0" sldId="260"/>
            <ac:picMk id="8" creationId="{BFFAB5ED-04EC-C879-3CC4-E4631D4AB53C}"/>
          </ac:picMkLst>
        </pc:picChg>
      </pc:sldChg>
      <pc:sldChg chg="addSp delSp modSp mod setBg">
        <pc:chgData name="Nitya Dhulipala" userId="e2423ff0bf2d78d8" providerId="LiveId" clId="{D48B1125-CBC0-4249-B0C0-7EBBA294BEC9}" dt="2026-09-30T04:13:44.875" v="287"/>
        <pc:sldMkLst>
          <pc:docMk/>
          <pc:sldMk cId="0" sldId="261"/>
        </pc:sldMkLst>
        <pc:spChg chg="del">
          <ac:chgData name="Nitya Dhulipala" userId="e2423ff0bf2d78d8" providerId="LiveId" clId="{D48B1125-CBC0-4249-B0C0-7EBBA294BEC9}" dt="2026-09-30T04:11:43.104" v="185" actId="478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Nitya Dhulipala" userId="e2423ff0bf2d78d8" providerId="LiveId" clId="{D48B1125-CBC0-4249-B0C0-7EBBA294BEC9}" dt="2026-09-30T04:12:12.718" v="219" actId="20577"/>
          <ac:spMkLst>
            <pc:docMk/>
            <pc:sldMk cId="0" sldId="261"/>
            <ac:spMk id="3" creationId="{00000000-0000-0000-0000-000000000000}"/>
          </ac:spMkLst>
        </pc:spChg>
      </pc:sldChg>
      <pc:sldChg chg="delSp modSp mod setBg">
        <pc:chgData name="Nitya Dhulipala" userId="e2423ff0bf2d78d8" providerId="LiveId" clId="{D48B1125-CBC0-4249-B0C0-7EBBA294BEC9}" dt="2026-09-30T04:13:44.875" v="287"/>
        <pc:sldMkLst>
          <pc:docMk/>
          <pc:sldMk cId="0" sldId="262"/>
        </pc:sldMkLst>
        <pc:spChg chg="del">
          <ac:chgData name="Nitya Dhulipala" userId="e2423ff0bf2d78d8" providerId="LiveId" clId="{D48B1125-CBC0-4249-B0C0-7EBBA294BEC9}" dt="2026-09-30T04:11:44.485" v="186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51.651" v="191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04.842" v="176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04.842" v="176" actId="40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04.842" v="176" actId="403"/>
          <ac:spMkLst>
            <pc:docMk/>
            <pc:sldMk cId="0" sldId="262"/>
            <ac:spMk id="23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04.842" v="176" actId="403"/>
          <ac:spMkLst>
            <pc:docMk/>
            <pc:sldMk cId="0" sldId="262"/>
            <ac:spMk id="29" creationId="{00000000-0000-0000-0000-000000000000}"/>
          </ac:spMkLst>
        </pc:spChg>
      </pc:sldChg>
      <pc:sldChg chg="delSp modSp mod setBg">
        <pc:chgData name="Nitya Dhulipala" userId="e2423ff0bf2d78d8" providerId="LiveId" clId="{D48B1125-CBC0-4249-B0C0-7EBBA294BEC9}" dt="2026-09-30T04:13:44.875" v="287"/>
        <pc:sldMkLst>
          <pc:docMk/>
          <pc:sldMk cId="0" sldId="263"/>
        </pc:sldMkLst>
        <pc:spChg chg="del">
          <ac:chgData name="Nitya Dhulipala" userId="e2423ff0bf2d78d8" providerId="LiveId" clId="{D48B1125-CBC0-4249-B0C0-7EBBA294BEC9}" dt="2026-09-30T04:11:45.864" v="187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2:17.570" v="224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0:51.114" v="165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26.889" v="181" actId="40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0:51.114" v="165" actId="103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26.889" v="181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0:51.114" v="165" actId="10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26.889" v="181" actId="403"/>
          <ac:spMkLst>
            <pc:docMk/>
            <pc:sldMk cId="0" sldId="263"/>
            <ac:spMk id="19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0:51.114" v="165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26.889" v="181" actId="40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0:51.114" v="165" actId="103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26.889" v="181" actId="403"/>
          <ac:spMkLst>
            <pc:docMk/>
            <pc:sldMk cId="0" sldId="263"/>
            <ac:spMk id="29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0:51.114" v="165" actId="103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26.889" v="181" actId="403"/>
          <ac:spMkLst>
            <pc:docMk/>
            <pc:sldMk cId="0" sldId="263"/>
            <ac:spMk id="33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0:51.114" v="165" actId="1036"/>
          <ac:spMkLst>
            <pc:docMk/>
            <pc:sldMk cId="0" sldId="263"/>
            <ac:spMk id="36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26.889" v="181" actId="403"/>
          <ac:spMkLst>
            <pc:docMk/>
            <pc:sldMk cId="0" sldId="263"/>
            <ac:spMk id="37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0:51.114" v="165" actId="103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Nitya Dhulipala" userId="e2423ff0bf2d78d8" providerId="LiveId" clId="{D48B1125-CBC0-4249-B0C0-7EBBA294BEC9}" dt="2026-09-30T04:11:26.889" v="181" actId="403"/>
          <ac:spMkLst>
            <pc:docMk/>
            <pc:sldMk cId="0" sldId="263"/>
            <ac:spMk id="41" creationId="{00000000-0000-0000-0000-000000000000}"/>
          </ac:spMkLst>
        </pc:spChg>
      </pc:sldChg>
      <pc:sldChg chg="addSp delSp modSp new mod setBg">
        <pc:chgData name="Nitya Dhulipala" userId="e2423ff0bf2d78d8" providerId="LiveId" clId="{D48B1125-CBC0-4249-B0C0-7EBBA294BEC9}" dt="2026-10-01T02:56:15.981" v="323" actId="1076"/>
        <pc:sldMkLst>
          <pc:docMk/>
          <pc:sldMk cId="905637514" sldId="264"/>
        </pc:sldMkLst>
        <pc:spChg chg="add del">
          <ac:chgData name="Nitya Dhulipala" userId="e2423ff0bf2d78d8" providerId="LiveId" clId="{D48B1125-CBC0-4249-B0C0-7EBBA294BEC9}" dt="2026-10-01T02:56:11.144" v="321" actId="26606"/>
          <ac:spMkLst>
            <pc:docMk/>
            <pc:sldMk cId="905637514" sldId="264"/>
            <ac:spMk id="8" creationId="{F3060C83-F051-4F0E-ABAD-AA0DFC48B218}"/>
          </ac:spMkLst>
        </pc:spChg>
        <pc:spChg chg="add del">
          <ac:chgData name="Nitya Dhulipala" userId="e2423ff0bf2d78d8" providerId="LiveId" clId="{D48B1125-CBC0-4249-B0C0-7EBBA294BEC9}" dt="2026-10-01T02:56:11.144" v="321" actId="26606"/>
          <ac:spMkLst>
            <pc:docMk/>
            <pc:sldMk cId="905637514" sldId="264"/>
            <ac:spMk id="10" creationId="{83C98ABE-055B-441F-B07E-44F97F083C39}"/>
          </ac:spMkLst>
        </pc:spChg>
        <pc:spChg chg="add del">
          <ac:chgData name="Nitya Dhulipala" userId="e2423ff0bf2d78d8" providerId="LiveId" clId="{D48B1125-CBC0-4249-B0C0-7EBBA294BEC9}" dt="2026-10-01T02:56:11.144" v="321" actId="26606"/>
          <ac:spMkLst>
            <pc:docMk/>
            <pc:sldMk cId="905637514" sldId="264"/>
            <ac:spMk id="12" creationId="{29FDB030-9B49-4CED-8CCD-4D99382388AC}"/>
          </ac:spMkLst>
        </pc:spChg>
        <pc:spChg chg="add del">
          <ac:chgData name="Nitya Dhulipala" userId="e2423ff0bf2d78d8" providerId="LiveId" clId="{D48B1125-CBC0-4249-B0C0-7EBBA294BEC9}" dt="2026-10-01T02:56:11.144" v="321" actId="26606"/>
          <ac:spMkLst>
            <pc:docMk/>
            <pc:sldMk cId="905637514" sldId="264"/>
            <ac:spMk id="14" creationId="{3783CA14-24A1-485C-8B30-D6A5D87987AD}"/>
          </ac:spMkLst>
        </pc:spChg>
        <pc:spChg chg="add del">
          <ac:chgData name="Nitya Dhulipala" userId="e2423ff0bf2d78d8" providerId="LiveId" clId="{D48B1125-CBC0-4249-B0C0-7EBBA294BEC9}" dt="2026-10-01T02:56:11.144" v="321" actId="26606"/>
          <ac:spMkLst>
            <pc:docMk/>
            <pc:sldMk cId="905637514" sldId="264"/>
            <ac:spMk id="16" creationId="{9A97C86A-04D6-40F7-AE84-31AB43E6A846}"/>
          </ac:spMkLst>
        </pc:spChg>
        <pc:spChg chg="add del">
          <ac:chgData name="Nitya Dhulipala" userId="e2423ff0bf2d78d8" providerId="LiveId" clId="{D48B1125-CBC0-4249-B0C0-7EBBA294BEC9}" dt="2026-10-01T02:56:11.144" v="321" actId="26606"/>
          <ac:spMkLst>
            <pc:docMk/>
            <pc:sldMk cId="905637514" sldId="264"/>
            <ac:spMk id="18" creationId="{FF9F2414-84E8-453E-B1F3-389FDE8192D9}"/>
          </ac:spMkLst>
        </pc:spChg>
        <pc:spChg chg="add del">
          <ac:chgData name="Nitya Dhulipala" userId="e2423ff0bf2d78d8" providerId="LiveId" clId="{D48B1125-CBC0-4249-B0C0-7EBBA294BEC9}" dt="2026-10-01T02:56:11.144" v="321" actId="26606"/>
          <ac:spMkLst>
            <pc:docMk/>
            <pc:sldMk cId="905637514" sldId="264"/>
            <ac:spMk id="20" creationId="{3ECA69A1-7536-43AC-85EF-C7106179F5ED}"/>
          </ac:spMkLst>
        </pc:spChg>
        <pc:picChg chg="add mod">
          <ac:chgData name="Nitya Dhulipala" userId="e2423ff0bf2d78d8" providerId="LiveId" clId="{D48B1125-CBC0-4249-B0C0-7EBBA294BEC9}" dt="2026-10-01T02:56:15.981" v="323" actId="1076"/>
          <ac:picMkLst>
            <pc:docMk/>
            <pc:sldMk cId="905637514" sldId="264"/>
            <ac:picMk id="3" creationId="{E970D47C-1092-158F-6C0B-86A9FF96998C}"/>
          </ac:picMkLst>
        </pc:picChg>
      </pc:sldChg>
      <pc:sldChg chg="new ord">
        <pc:chgData name="Nitya Dhulipala" userId="e2423ff0bf2d78d8" providerId="LiveId" clId="{D48B1125-CBC0-4249-B0C0-7EBBA294BEC9}" dt="2026-10-01T04:54:47.559" v="326"/>
        <pc:sldMkLst>
          <pc:docMk/>
          <pc:sldMk cId="2688164701" sldId="265"/>
        </pc:sldMkLst>
      </pc:sldChg>
      <pc:sldMasterChg chg="setBg modSldLayout">
        <pc:chgData name="Nitya Dhulipala" userId="e2423ff0bf2d78d8" providerId="LiveId" clId="{D48B1125-CBC0-4249-B0C0-7EBBA294BEC9}" dt="2026-09-30T04:13:44.875" v="287"/>
        <pc:sldMasterMkLst>
          <pc:docMk/>
          <pc:sldMasterMk cId="2209977519" sldId="2147483648"/>
        </pc:sldMasterMkLst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3168075583" sldId="2147483649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2614314258" sldId="2147483650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960648375" sldId="2147483651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2782244947" sldId="2147483652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990158736" sldId="2147483653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727027711" sldId="2147483654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1212999818" sldId="2147483655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1840726560" sldId="2147483656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3889236939" sldId="2147483657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2910927964" sldId="2147483658"/>
          </pc:sldLayoutMkLst>
        </pc:sldLayoutChg>
        <pc:sldLayoutChg chg="setBg">
          <pc:chgData name="Nitya Dhulipala" userId="e2423ff0bf2d78d8" providerId="LiveId" clId="{D48B1125-CBC0-4249-B0C0-7EBBA294BEC9}" dt="2026-09-30T04:13:44.875" v="287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164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53D"/>
          </a:solidFill>
          <a:ln>
            <a:solidFill>
              <a:srgbClr val="18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32520" y="0"/>
            <a:ext cx="3459175" cy="3703320"/>
          </a:xfrm>
          <a:prstGeom prst="roundRect">
            <a:avLst>
              <a:gd name="adj" fmla="val 12000"/>
            </a:avLst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55480" y="2971800"/>
            <a:ext cx="2636215" cy="3886200"/>
          </a:xfrm>
          <a:prstGeom prst="roundRect">
            <a:avLst>
              <a:gd name="adj" fmla="val 12000"/>
            </a:avLst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79992" y="196596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253956"/>
          </a:solidFill>
          <a:ln>
            <a:solidFill>
              <a:srgbClr val="25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58368"/>
            <a:ext cx="457200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EDBD2"/>
                </a:solidFill>
                <a:latin typeface="Aptos"/>
              </a:rPr>
              <a:t>BUSINESS ANALYTICS  /  NLP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955279" cy="1508760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FROM REVIEWS
TO RETAIL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18688"/>
            <a:ext cx="7132320" cy="822960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DE5EF"/>
                </a:solidFill>
                <a:latin typeface="Aptos"/>
              </a:rPr>
              <a:t>NLP analysis of product recommendations in women’s e-commerce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70832"/>
            <a:ext cx="685800" cy="5029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4709160"/>
            <a:ext cx="612648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EDBD2"/>
                </a:solidFill>
                <a:latin typeface="Aptos"/>
              </a:rP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074920"/>
            <a:ext cx="7315200" cy="5029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Nitya Dhulipala  •  Madhusri  •  Rashmitha  •  Raghunandan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50979"/>
            <a:ext cx="11064240" cy="461665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2700" b="1" dirty="0">
                <a:solidFill>
                  <a:srgbClr val="18253D"/>
                </a:solidFill>
                <a:latin typeface="Aptos"/>
              </a:rPr>
              <a:t>Problem Statement</a:t>
            </a:r>
            <a:endParaRPr sz="2700" b="1" dirty="0">
              <a:solidFill>
                <a:srgbClr val="18253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77487"/>
                </a:solidFill>
                <a:latin typeface="Aptos"/>
              </a:rPr>
              <a:t>Customer reviews contain useful detail that star ratings alone cannot explain.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36192"/>
            <a:ext cx="594360" cy="5029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847088"/>
            <a:ext cx="349300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9224" y="1984248"/>
            <a:ext cx="50292" cy="1033271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56816"/>
            <a:ext cx="323697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53D"/>
                </a:solidFill>
                <a:latin typeface="Aptos"/>
              </a:rPr>
              <a:t>Feedback is rich, but unstructured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3218688" cy="75895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Customers describe fit, fabric, comfort, sizing, appearance, and expectations in free-text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47088"/>
            <a:ext cx="349300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984248"/>
            <a:ext cx="50292" cy="1033271"/>
          </a:xfrm>
          <a:prstGeom prst="rect">
            <a:avLst/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56816"/>
            <a:ext cx="323697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53D"/>
                </a:solidFill>
                <a:latin typeface="Aptos"/>
              </a:rPr>
              <a:t>Ratings are only a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13432"/>
            <a:ext cx="3218688" cy="75895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A star score signals satisfaction, but often does not reveal the specific experience behind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847088"/>
            <a:ext cx="349300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984248"/>
            <a:ext cx="50292" cy="1033271"/>
          </a:xfrm>
          <a:prstGeom prst="rect">
            <a:avLst/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0456" y="1956816"/>
            <a:ext cx="323697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8253D"/>
                </a:solidFill>
                <a:latin typeface="Aptos"/>
              </a:rPr>
              <a:t>Teams need repeatable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313432"/>
            <a:ext cx="3218688" cy="75895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Merchandising, product, and customer-experience teams need recurring themes they can investigate and act 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493008"/>
            <a:ext cx="10936224" cy="1517904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730752"/>
            <a:ext cx="20574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079B9"/>
                </a:solidFill>
                <a:latin typeface="Aptos"/>
              </a:rPr>
              <a:t>RESEARCH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050791"/>
            <a:ext cx="10195560" cy="57607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53D"/>
                </a:solidFill>
                <a:latin typeface="Aptos"/>
              </a:rPr>
              <a:t>Can NLP identify recurring language and sentiment in women’s clothing reviews, examine how sentiment relates to recommendation, and predict the recommendation label from review text?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13248"/>
            <a:ext cx="10789920" cy="56692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877E"/>
                </a:solidFill>
                <a:latin typeface="Aptos"/>
              </a:rPr>
              <a:t>PROJECT OBJECTIVE  •  Turn customer language into measurable signals that support clearer product information and more informed retail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50979"/>
            <a:ext cx="11064240" cy="461665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2700" b="1" dirty="0">
                <a:solidFill>
                  <a:srgbClr val="18253D"/>
                </a:solidFill>
                <a:latin typeface="Aptos"/>
              </a:rPr>
              <a:t>Solution</a:t>
            </a:r>
            <a:endParaRPr sz="2700" b="1" dirty="0">
              <a:solidFill>
                <a:srgbClr val="18253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77487"/>
                </a:solidFill>
                <a:latin typeface="Aptos"/>
              </a:rPr>
              <a:t>Combine text analytics and supervised classification to study recommendation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36192"/>
            <a:ext cx="594360" cy="5029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920240" cy="292608"/>
          </a:xfrm>
          <a:prstGeom prst="roundRect">
            <a:avLst>
              <a:gd name="adj" fmla="val 12000"/>
            </a:avLst>
          </a:prstGeom>
          <a:solidFill>
            <a:srgbClr val="E4F4F1"/>
          </a:solidFill>
          <a:ln>
            <a:solidFill>
              <a:srgbClr val="E4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842516"/>
            <a:ext cx="1847088" cy="24688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877E"/>
                </a:solidFill>
                <a:latin typeface="Aptos"/>
              </a:rPr>
              <a:t>TRACK A  /  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1828800" cy="292608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0216" y="1842516"/>
            <a:ext cx="1755648" cy="24688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079B9"/>
                </a:solidFill>
                <a:latin typeface="Aptos"/>
              </a:rPr>
              <a:t>TRACK B  /  PREDICT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67712"/>
            <a:ext cx="51389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404872"/>
            <a:ext cx="50292" cy="384048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2377440"/>
            <a:ext cx="488289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8253D"/>
                </a:solidFill>
                <a:latin typeface="Aptos"/>
              </a:rPr>
              <a:t>01  Explore the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734056"/>
            <a:ext cx="4864608" cy="1097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Review ratings, recommendation labels, and text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51389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09544"/>
            <a:ext cx="50292" cy="384048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3182112"/>
            <a:ext cx="488289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8253D"/>
                </a:solidFill>
                <a:latin typeface="Aptos"/>
              </a:rPr>
              <a:t>02  Prepare review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538728"/>
            <a:ext cx="4864608" cy="1097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Clean and normalize text for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77056"/>
            <a:ext cx="51389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014216"/>
            <a:ext cx="50292" cy="384048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" y="3986784"/>
            <a:ext cx="488289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8253D"/>
                </a:solidFill>
                <a:latin typeface="Aptos"/>
              </a:rPr>
              <a:t>03  Extract language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4343400"/>
            <a:ext cx="4864608" cy="1097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Inspect frequent words and phrase patterns.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81728"/>
            <a:ext cx="51389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818888"/>
            <a:ext cx="50292" cy="384048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" y="4791456"/>
            <a:ext cx="488289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8253D"/>
                </a:solidFill>
                <a:latin typeface="Aptos"/>
              </a:rPr>
              <a:t>04  Score sentiment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5148072"/>
            <a:ext cx="4864608" cy="1097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Use VADER to classify review polarity.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267712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91072" y="2404872"/>
            <a:ext cx="50292" cy="384048"/>
          </a:xfrm>
          <a:prstGeom prst="rect">
            <a:avLst/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2377440"/>
            <a:ext cx="5001768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8253D"/>
                </a:solidFill>
                <a:latin typeface="Aptos"/>
              </a:rPr>
              <a:t>01  Define the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734056"/>
            <a:ext cx="4983480" cy="1097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Use Recommended IND as the outcome label.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072384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91072" y="3209544"/>
            <a:ext cx="50292" cy="384048"/>
          </a:xfrm>
          <a:prstGeom prst="rect">
            <a:avLst/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3182112"/>
            <a:ext cx="5001768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8253D"/>
                </a:solidFill>
                <a:latin typeface="Aptos"/>
              </a:rPr>
              <a:t>02  Represent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538728"/>
            <a:ext cx="4983480" cy="1097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Transform reviews into 5,000 TF-IDF features.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877056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91072" y="4014216"/>
            <a:ext cx="50292" cy="384048"/>
          </a:xfrm>
          <a:prstGeom prst="rect">
            <a:avLst/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3986784"/>
            <a:ext cx="5001768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8253D"/>
                </a:solidFill>
                <a:latin typeface="Aptos"/>
              </a:rPr>
              <a:t>03  Train the classifier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343400"/>
            <a:ext cx="4983480" cy="1097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Fit Logistic Regression using a stratified 80/20 split.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681728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91072" y="4818888"/>
            <a:ext cx="50292" cy="384048"/>
          </a:xfrm>
          <a:prstGeom prst="rect">
            <a:avLst/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9088" y="4791456"/>
            <a:ext cx="5001768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8253D"/>
                </a:solidFill>
                <a:latin typeface="Aptos"/>
              </a:rPr>
              <a:t>04  Evaluate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5148072"/>
            <a:ext cx="4983480" cy="109728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Measure accuracy, precision, recall, F1, ROC-AUC, and errors.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50992"/>
            <a:ext cx="10863072" cy="502920"/>
          </a:xfrm>
          <a:prstGeom prst="roundRect">
            <a:avLst>
              <a:gd name="adj" fmla="val 12000"/>
            </a:avLst>
          </a:prstGeom>
          <a:solidFill>
            <a:srgbClr val="E4F4F1"/>
          </a:solidFill>
          <a:ln>
            <a:solidFill>
              <a:srgbClr val="E4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715000"/>
            <a:ext cx="10424160" cy="329184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877E"/>
                </a:solidFill>
                <a:latin typeface="Aptos"/>
              </a:rPr>
              <a:t>DELIVERABLES  •  Language patterns  •  Sentiment profile  •  Recommendation predictions  •  Model evaluation  •  Retail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50979"/>
            <a:ext cx="11064240" cy="461665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18253D"/>
                </a:solidFill>
                <a:latin typeface="Aptos"/>
              </a:rPr>
              <a:t>Tools and </a:t>
            </a:r>
            <a:r>
              <a:rPr lang="en-IN" sz="2700" b="1" dirty="0">
                <a:solidFill>
                  <a:srgbClr val="18253D"/>
                </a:solidFill>
                <a:latin typeface="Aptos"/>
              </a:rPr>
              <a:t>Methods</a:t>
            </a:r>
            <a:endParaRPr sz="2700" b="1" dirty="0">
              <a:solidFill>
                <a:srgbClr val="18253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77487"/>
                </a:solidFill>
                <a:latin typeface="Aptos"/>
              </a:rPr>
              <a:t>The tools used to prepare, analyze, model, and communicate the review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36192"/>
            <a:ext cx="594360" cy="5029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345643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39112"/>
            <a:ext cx="50292" cy="896112"/>
          </a:xfrm>
          <a:prstGeom prst="rect">
            <a:avLst/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2011680"/>
            <a:ext cx="32004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53D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368296"/>
            <a:ext cx="3182112" cy="62179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Core programming environment for the end-to-end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01952"/>
            <a:ext cx="345643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6552" y="2039112"/>
            <a:ext cx="50292" cy="896112"/>
          </a:xfrm>
          <a:prstGeom prst="rect">
            <a:avLst/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2004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53D"/>
                </a:solidFill>
                <a:latin typeface="Aptos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68296"/>
            <a:ext cx="3182112" cy="62179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Data cleaning, filtering, transformation, and exploratory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901952"/>
            <a:ext cx="345643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7304" y="2039112"/>
            <a:ext cx="50292" cy="89611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2004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53D"/>
                </a:solidFill>
                <a:latin typeface="Aptos"/>
              </a:rPr>
              <a:t>NLTK / VADER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68296"/>
            <a:ext cx="3182112" cy="62179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Lexicon-based sentiment scoring of review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19272"/>
            <a:ext cx="345643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456432"/>
            <a:ext cx="50292" cy="896112"/>
          </a:xfrm>
          <a:prstGeom prst="rect">
            <a:avLst/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" y="3429000"/>
            <a:ext cx="32004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53D"/>
                </a:solidFill>
                <a:latin typeface="Aptos"/>
              </a:rP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785615"/>
            <a:ext cx="3182112" cy="62179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TF-IDF vectorization, stratified split, Logistic Regression, and evaluation metrics.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19272"/>
            <a:ext cx="345643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16552" y="3456432"/>
            <a:ext cx="50292" cy="896112"/>
          </a:xfrm>
          <a:prstGeom prst="rect">
            <a:avLst/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429000"/>
            <a:ext cx="32004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53D"/>
                </a:solidFill>
                <a:latin typeface="Aptos"/>
              </a:rPr>
              <a:t>Matplotlib / Seaborn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785615"/>
            <a:ext cx="3182112" cy="62179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Charts for exploring dataset patterns and communicating results.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319272"/>
            <a:ext cx="345643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47304" y="3456432"/>
            <a:ext cx="50292" cy="89611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3429000"/>
            <a:ext cx="32004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253D"/>
                </a:solidFill>
                <a:latin typeface="Aptos"/>
              </a:rPr>
              <a:t>Jupyter Notebook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785615"/>
            <a:ext cx="3182112" cy="621792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677487"/>
                </a:solidFill>
                <a:latin typeface="Aptos"/>
              </a:rPr>
              <a:t>Reproducible, step-by-step analysis and experimentation.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7492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EBF1FA"/>
          </a:solidFill>
          <a:ln>
            <a:solidFill>
              <a:srgbClr val="EB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5230368"/>
            <a:ext cx="1828800" cy="25603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079B9"/>
                </a:solidFill>
                <a:latin typeface="Aptos"/>
              </a:rPr>
              <a:t>MODEL 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532120"/>
            <a:ext cx="10287000" cy="27432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18253D"/>
                </a:solidFill>
                <a:latin typeface="Aptos"/>
              </a:rPr>
              <a:t>TF-IDF • 5,000 features • unigrams + bigrams     |     Stratified 80/20 train–test split     |     Logistic Regression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BAF279-8167-24F1-1EEC-91B43BC21C95}"/>
              </a:ext>
            </a:extLst>
          </p:cNvPr>
          <p:cNvSpPr txBox="1"/>
          <p:nvPr/>
        </p:nvSpPr>
        <p:spPr>
          <a:xfrm>
            <a:off x="419642" y="350830"/>
            <a:ext cx="11064240" cy="461665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2700" b="1" dirty="0">
                <a:solidFill>
                  <a:srgbClr val="18253D"/>
                </a:solidFill>
                <a:latin typeface="Aptos"/>
              </a:rPr>
              <a:t>NLP Pipeline</a:t>
            </a:r>
            <a:endParaRPr sz="2700" b="1" dirty="0">
              <a:solidFill>
                <a:srgbClr val="18253D"/>
              </a:solidFill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8F91C-E34A-A9EE-8DB3-DFCE1A568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66"/>
          <a:stretch>
            <a:fillRect/>
          </a:stretch>
        </p:blipFill>
        <p:spPr>
          <a:xfrm>
            <a:off x="3239" y="1170432"/>
            <a:ext cx="1218552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50979"/>
            <a:ext cx="11064240" cy="461665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18253D"/>
                </a:solidFill>
                <a:latin typeface="Aptos"/>
              </a:rPr>
              <a:t>Results </a:t>
            </a:r>
            <a:r>
              <a:rPr lang="en-IN" sz="2700" b="1" dirty="0">
                <a:solidFill>
                  <a:srgbClr val="18253D"/>
                </a:solidFill>
                <a:latin typeface="Aptos"/>
              </a:rPr>
              <a:t>Dashboard</a:t>
            </a:r>
            <a:endParaRPr sz="2700" b="1" dirty="0">
              <a:solidFill>
                <a:srgbClr val="18253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77487"/>
                </a:solidFill>
                <a:latin typeface="Aptos"/>
              </a:rPr>
              <a:t>A snapshot of review patterns, sentiment, and held-out model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36192"/>
            <a:ext cx="594360" cy="5029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54203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929384"/>
            <a:ext cx="2322576" cy="39319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0877E"/>
                </a:solidFill>
                <a:latin typeface="Aptos"/>
              </a:rPr>
              <a:t>22,640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50008"/>
            <a:ext cx="2322576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677487"/>
                </a:solidFill>
                <a:latin typeface="Aptos"/>
              </a:rPr>
              <a:t>CLEANED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828800"/>
            <a:ext cx="254203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7015" y="1929384"/>
            <a:ext cx="2322576" cy="39319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E76C56"/>
                </a:solidFill>
                <a:latin typeface="Aptos"/>
              </a:rPr>
              <a:t>4.18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5" y="2350008"/>
            <a:ext cx="2322576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677487"/>
                </a:solidFill>
                <a:latin typeface="Aptos"/>
              </a:rPr>
              <a:t>MEAN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7" y="1828800"/>
            <a:ext cx="254203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1929384"/>
            <a:ext cx="2322576" cy="39319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5079B9"/>
                </a:solidFill>
                <a:latin typeface="Aptos"/>
              </a:rPr>
              <a:t>81.89%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350008"/>
            <a:ext cx="2322576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677487"/>
                </a:solidFill>
                <a:latin typeface="Aptos"/>
              </a:rPr>
              <a:t>RECOMMENDATION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5128" y="1828800"/>
            <a:ext cx="254203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34855" y="1929384"/>
            <a:ext cx="2322576" cy="39319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0877E"/>
                </a:solidFill>
                <a:latin typeface="Aptos"/>
              </a:rPr>
              <a:t>0.9286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5" y="2350008"/>
            <a:ext cx="2322576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677487"/>
                </a:solidFill>
                <a:latin typeface="Aptos"/>
              </a:rPr>
              <a:t>ROC–AUC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71800"/>
            <a:ext cx="5166360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154680"/>
            <a:ext cx="466344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8253D"/>
                </a:solidFill>
                <a:latin typeface="Aptos"/>
              </a:rPr>
              <a:t>SENTIMENT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657600"/>
            <a:ext cx="1097280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374A"/>
                </a:solidFill>
                <a:latin typeface="Aptos"/>
              </a:rPr>
              <a:t>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3657600"/>
            <a:ext cx="135331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77487"/>
                </a:solidFill>
                <a:latin typeface="Aptos"/>
              </a:rPr>
              <a:t>20,986  •  92.7%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3694176"/>
            <a:ext cx="1993392" cy="146304"/>
          </a:xfrm>
          <a:prstGeom prst="roundRect">
            <a:avLst>
              <a:gd name="adj" fmla="val 12000"/>
            </a:avLst>
          </a:prstGeom>
          <a:solidFill>
            <a:srgbClr val="E0E6ED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401568" y="3694176"/>
            <a:ext cx="1847874" cy="146304"/>
          </a:xfrm>
          <a:prstGeom prst="roundRect">
            <a:avLst>
              <a:gd name="adj" fmla="val 12000"/>
            </a:avLst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4187952"/>
            <a:ext cx="1097280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374A"/>
                </a:solidFill>
                <a:latin typeface="Aptos"/>
              </a:rPr>
              <a:t>Neutral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4187952"/>
            <a:ext cx="135331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77487"/>
                </a:solidFill>
                <a:latin typeface="Aptos"/>
              </a:rPr>
              <a:t>277  •  1.2%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4224528"/>
            <a:ext cx="1993392" cy="146304"/>
          </a:xfrm>
          <a:prstGeom prst="roundRect">
            <a:avLst>
              <a:gd name="adj" fmla="val 12000"/>
            </a:avLst>
          </a:prstGeom>
          <a:solidFill>
            <a:srgbClr val="E0E6ED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01568" y="4224528"/>
            <a:ext cx="36576" cy="146304"/>
          </a:xfrm>
          <a:prstGeom prst="roundRect">
            <a:avLst>
              <a:gd name="adj" fmla="val 12000"/>
            </a:avLst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718304"/>
            <a:ext cx="1097280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B374A"/>
                </a:solidFill>
                <a:latin typeface="Aptos"/>
              </a:rPr>
              <a:t>Negative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4718304"/>
            <a:ext cx="1353312" cy="22860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77487"/>
                </a:solidFill>
                <a:latin typeface="Aptos"/>
              </a:rPr>
              <a:t>1,377  •  6.1%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4754880"/>
            <a:ext cx="1993392" cy="146304"/>
          </a:xfrm>
          <a:prstGeom prst="roundRect">
            <a:avLst>
              <a:gd name="adj" fmla="val 12000"/>
            </a:avLst>
          </a:prstGeom>
          <a:solidFill>
            <a:srgbClr val="E0E6ED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401568" y="4754880"/>
            <a:ext cx="121596" cy="146304"/>
          </a:xfrm>
          <a:prstGeom prst="roundRect">
            <a:avLst>
              <a:gd name="adj" fmla="val 12000"/>
            </a:avLst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5239512"/>
            <a:ext cx="4617720" cy="16459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>
                <a:solidFill>
                  <a:srgbClr val="677487"/>
                </a:solidFill>
                <a:latin typeface="Aptos"/>
              </a:rPr>
              <a:t>VADER sentiment labels • Review-level sentiment classification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53328" y="2971800"/>
            <a:ext cx="5468112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3154680"/>
            <a:ext cx="4937760" cy="32004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8253D"/>
                </a:solidFill>
                <a:latin typeface="Aptos"/>
              </a:rPr>
              <a:t>LOGISTIC REGRESSION • TEST 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584448"/>
            <a:ext cx="1170432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B374A"/>
                </a:solidFill>
                <a:latin typeface="Aptos"/>
              </a:rPr>
              <a:t>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07808" y="3625596"/>
            <a:ext cx="2514600" cy="137160"/>
          </a:xfrm>
          <a:prstGeom prst="roundRect">
            <a:avLst>
              <a:gd name="adj" fmla="val 12000"/>
            </a:avLst>
          </a:prstGeom>
          <a:solidFill>
            <a:srgbClr val="E0E6ED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607808" y="3625596"/>
            <a:ext cx="2186444" cy="137160"/>
          </a:xfrm>
          <a:prstGeom prst="roundRect">
            <a:avLst>
              <a:gd name="adj" fmla="val 12000"/>
            </a:avLst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3584448"/>
            <a:ext cx="1005840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8253D"/>
                </a:solidFill>
                <a:latin typeface="Aptos"/>
              </a:rPr>
              <a:t>86.95%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005072"/>
            <a:ext cx="1170432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B374A"/>
                </a:solidFill>
                <a:latin typeface="Aptos"/>
              </a:rPr>
              <a:t>Precision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07808" y="4046220"/>
            <a:ext cx="2514600" cy="137160"/>
          </a:xfrm>
          <a:prstGeom prst="roundRect">
            <a:avLst>
              <a:gd name="adj" fmla="val 12000"/>
            </a:avLst>
          </a:prstGeom>
          <a:solidFill>
            <a:srgbClr val="E0E6ED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607808" y="4046220"/>
            <a:ext cx="2412255" cy="137160"/>
          </a:xfrm>
          <a:prstGeom prst="roundRect">
            <a:avLst>
              <a:gd name="adj" fmla="val 12000"/>
            </a:avLst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68128" y="4005072"/>
            <a:ext cx="1005840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8253D"/>
                </a:solidFill>
                <a:latin typeface="Aptos"/>
              </a:rPr>
              <a:t>95.93%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425696"/>
            <a:ext cx="1170432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B374A"/>
                </a:solidFill>
                <a:latin typeface="Aptos"/>
              </a:rPr>
              <a:t>Recall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07808" y="4466844"/>
            <a:ext cx="2514600" cy="137160"/>
          </a:xfrm>
          <a:prstGeom prst="roundRect">
            <a:avLst>
              <a:gd name="adj" fmla="val 12000"/>
            </a:avLst>
          </a:prstGeom>
          <a:solidFill>
            <a:srgbClr val="E0E6ED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607808" y="4466844"/>
            <a:ext cx="2207315" cy="137160"/>
          </a:xfrm>
          <a:prstGeom prst="roundRect">
            <a:avLst>
              <a:gd name="adj" fmla="val 12000"/>
            </a:avLst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68128" y="4425696"/>
            <a:ext cx="1005840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8253D"/>
                </a:solidFill>
                <a:latin typeface="Aptos"/>
              </a:rPr>
              <a:t>87.78%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4846320"/>
            <a:ext cx="1170432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B374A"/>
                </a:solidFill>
                <a:latin typeface="Aptos"/>
              </a:rPr>
              <a:t>F1-score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07808" y="4887468"/>
            <a:ext cx="2514600" cy="137160"/>
          </a:xfrm>
          <a:prstGeom prst="roundRect">
            <a:avLst>
              <a:gd name="adj" fmla="val 12000"/>
            </a:avLst>
          </a:prstGeom>
          <a:solidFill>
            <a:srgbClr val="E0E6ED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607808" y="4887468"/>
            <a:ext cx="2305385" cy="137160"/>
          </a:xfrm>
          <a:prstGeom prst="roundRect">
            <a:avLst>
              <a:gd name="adj" fmla="val 12000"/>
            </a:avLst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4846320"/>
            <a:ext cx="1005840" cy="21945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8253D"/>
                </a:solidFill>
                <a:latin typeface="Aptos"/>
              </a:rPr>
              <a:t>91.68%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5266944"/>
            <a:ext cx="4800600" cy="1554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>
                <a:solidFill>
                  <a:srgbClr val="677487"/>
                </a:solidFill>
                <a:latin typeface="Aptos"/>
              </a:rPr>
              <a:t>Baseline accuracy: 81.89% • Classes are imbalanced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797296"/>
            <a:ext cx="10881360" cy="393192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0877E"/>
                </a:solidFill>
                <a:latin typeface="Aptos"/>
              </a:rPr>
              <a:t>INTERPRETATION  •  The model distinguishes recommendation outcomes well overall; precision, recall, and class imbalance should be considered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0D47C-1092-158F-6C0B-86A9FF969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94" y="114129"/>
            <a:ext cx="9944611" cy="662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3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50979"/>
            <a:ext cx="11064240" cy="461665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18253D"/>
                </a:solidFill>
                <a:latin typeface="Aptos"/>
              </a:rPr>
              <a:t>Business </a:t>
            </a:r>
            <a:r>
              <a:rPr lang="en-IN" sz="2700" b="1" dirty="0">
                <a:solidFill>
                  <a:srgbClr val="18253D"/>
                </a:solidFill>
                <a:latin typeface="Aptos"/>
              </a:rPr>
              <a:t>Re</a:t>
            </a:r>
            <a:r>
              <a:rPr sz="2700" b="1" dirty="0">
                <a:solidFill>
                  <a:srgbClr val="18253D"/>
                </a:solidFill>
                <a:latin typeface="Aptos"/>
              </a:rPr>
              <a:t>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77487"/>
                </a:solidFill>
                <a:latin typeface="Aptos"/>
              </a:rPr>
              <a:t>Translate recurring review themes into practical retail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36192"/>
            <a:ext cx="594360" cy="5029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56231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75103"/>
            <a:ext cx="566928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6192" y="1856231"/>
            <a:ext cx="998524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63624" y="1993391"/>
            <a:ext cx="50292" cy="43891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39" y="1965960"/>
            <a:ext cx="9729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8253D"/>
                </a:solidFill>
                <a:latin typeface="Aptos"/>
              </a:rPr>
              <a:t>Make product pages more 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2255069"/>
            <a:ext cx="9710928" cy="200055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677487"/>
                </a:solidFill>
                <a:latin typeface="Aptos"/>
              </a:rPr>
              <a:t>Clarify fabric, fit, sizing, color, and expected appearance so shoppers can compare the description with the item they receive.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1635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566928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36192" y="2816352"/>
            <a:ext cx="998524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63624" y="2953512"/>
            <a:ext cx="50292" cy="438912"/>
          </a:xfrm>
          <a:prstGeom prst="rect">
            <a:avLst/>
          </a:prstGeom>
          <a:solidFill>
            <a:srgbClr val="5079B9"/>
          </a:solidFill>
          <a:ln>
            <a:solidFill>
              <a:srgbClr val="507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91639" y="2926080"/>
            <a:ext cx="9729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8253D"/>
                </a:solidFill>
                <a:latin typeface="Aptos"/>
              </a:rPr>
              <a:t>Improve fit and size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39" y="3215189"/>
            <a:ext cx="9710928" cy="200055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77487"/>
                </a:solidFill>
                <a:latin typeface="Aptos"/>
              </a:rPr>
              <a:t>Review recurring fit and size comments; use them to prioritize clearer size charts, fit notes, and garment-specific guidance.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7647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895344"/>
            <a:ext cx="566928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6192" y="3776472"/>
            <a:ext cx="998524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63624" y="3913632"/>
            <a:ext cx="50292" cy="438912"/>
          </a:xfrm>
          <a:prstGeom prst="rect">
            <a:avLst/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91639" y="3886200"/>
            <a:ext cx="9729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8253D"/>
                </a:solidFill>
                <a:latin typeface="Aptos"/>
              </a:rPr>
              <a:t>Monitor negative review themes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39" y="4175309"/>
            <a:ext cx="9710928" cy="200055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77487"/>
                </a:solidFill>
                <a:latin typeface="Aptos"/>
              </a:rPr>
              <a:t>Track repeated complaints—including returns, poor fit, or disappointing appearance—and route them to the relevant product or CX team.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36592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D29D43"/>
          </a:solidFill>
          <a:ln>
            <a:solidFill>
              <a:srgbClr val="D2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55464"/>
            <a:ext cx="566928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36192" y="4736592"/>
            <a:ext cx="998524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563624" y="4873752"/>
            <a:ext cx="50292" cy="438912"/>
          </a:xfrm>
          <a:prstGeom prst="rect">
            <a:avLst/>
          </a:prstGeom>
          <a:solidFill>
            <a:srgbClr val="D29D43"/>
          </a:solidFill>
          <a:ln>
            <a:solidFill>
              <a:srgbClr val="D29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91639" y="4846320"/>
            <a:ext cx="972921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8253D"/>
                </a:solidFill>
                <a:latin typeface="Aptos"/>
              </a:rPr>
              <a:t>Close the feedback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39" y="5135429"/>
            <a:ext cx="9710928" cy="200055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77487"/>
                </a:solidFill>
                <a:latin typeface="Aptos"/>
              </a:rPr>
              <a:t>Share summarized review themes with merchandising, product, quality, and customer-experience teams; revisit themes after changes.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852160"/>
            <a:ext cx="10835640" cy="438912"/>
          </a:xfrm>
          <a:prstGeom prst="roundRect">
            <a:avLst>
              <a:gd name="adj" fmla="val 12000"/>
            </a:avLst>
          </a:prstGeom>
          <a:solidFill>
            <a:srgbClr val="FCEDE8"/>
          </a:solidFill>
          <a:ln>
            <a:solidFill>
              <a:srgbClr val="FC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907024"/>
            <a:ext cx="10469880" cy="29260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76C56"/>
                </a:solidFill>
                <a:latin typeface="Aptos"/>
              </a:rPr>
              <a:t>DECISION PRINCIPLE  •  Combine review-language evidence with product knowledge, customer context, and follow-up measurement.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550979"/>
            <a:ext cx="11064240" cy="461665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18253D"/>
                </a:solidFill>
                <a:latin typeface="Aptos"/>
              </a:rPr>
              <a:t>Limitations </a:t>
            </a:r>
            <a:r>
              <a:rPr lang="en-IN" sz="2700" b="1" dirty="0">
                <a:solidFill>
                  <a:srgbClr val="18253D"/>
                </a:solidFill>
                <a:latin typeface="Aptos"/>
              </a:rPr>
              <a:t>&amp; Future</a:t>
            </a:r>
            <a:r>
              <a:rPr sz="2700" b="1" dirty="0">
                <a:solidFill>
                  <a:srgbClr val="18253D"/>
                </a:solidFill>
                <a:latin typeface="Aptos"/>
              </a:rPr>
              <a:t>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77487"/>
                </a:solidFill>
                <a:latin typeface="Aptos"/>
              </a:rPr>
              <a:t>What the current analysis can tell us—and what to validate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36192"/>
            <a:ext cx="594360" cy="50292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5230368" cy="438912"/>
          </a:xfrm>
          <a:prstGeom prst="roundRect">
            <a:avLst>
              <a:gd name="adj" fmla="val 12000"/>
            </a:avLst>
          </a:prstGeom>
          <a:solidFill>
            <a:srgbClr val="FCEDE8"/>
          </a:solidFill>
          <a:ln>
            <a:solidFill>
              <a:srgbClr val="FC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11095"/>
            <a:ext cx="4846320" cy="283464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76C56"/>
                </a:solidFill>
                <a:latin typeface="Aptos"/>
              </a:rPr>
              <a:t>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50592"/>
            <a:ext cx="52303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587752"/>
            <a:ext cx="50292" cy="329184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511224"/>
            <a:ext cx="497433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dirty="0">
                <a:solidFill>
                  <a:srgbClr val="18253D"/>
                </a:solidFill>
                <a:latin typeface="Aptos"/>
              </a:rPr>
              <a:t>Class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38963"/>
            <a:ext cx="4956048" cy="323165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677487"/>
                </a:solidFill>
                <a:latin typeface="Aptos"/>
              </a:rPr>
              <a:t>Recommended reviews dominate the target distribution, which can affect how performance metrics should be interpreted.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82112"/>
            <a:ext cx="52303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319272"/>
            <a:ext cx="50292" cy="329184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" y="3242744"/>
            <a:ext cx="497433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8253D"/>
                </a:solidFill>
                <a:latin typeface="Aptos"/>
              </a:rPr>
              <a:t>Sentiment nuance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470483"/>
            <a:ext cx="4956048" cy="184666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VADER may miss context, sarcasm, mixed opinions, and product-specific meaning.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13632"/>
            <a:ext cx="52303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050792"/>
            <a:ext cx="50292" cy="329184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3974264"/>
            <a:ext cx="497433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8253D"/>
                </a:solidFill>
                <a:latin typeface="Aptos"/>
              </a:rPr>
              <a:t>Association ≠ causation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4202003"/>
            <a:ext cx="4956048" cy="323165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Text patterns and sentiment can be associated with recommendation without proving what caused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45152"/>
            <a:ext cx="52303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782312"/>
            <a:ext cx="50292" cy="329184"/>
          </a:xfrm>
          <a:prstGeom prst="rect">
            <a:avLst/>
          </a:prstGeom>
          <a:solidFill>
            <a:srgbClr val="E76C56"/>
          </a:solidFill>
          <a:ln>
            <a:solidFill>
              <a:srgbClr val="E76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" y="4705784"/>
            <a:ext cx="4974336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8253D"/>
                </a:solidFill>
                <a:latin typeface="Aptos"/>
              </a:rPr>
              <a:t>Limited generalization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4933523"/>
            <a:ext cx="4956048" cy="184666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The dataset represents one retailer and category context; patterns may differ elsewhere.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1847088"/>
            <a:ext cx="5285232" cy="438912"/>
          </a:xfrm>
          <a:prstGeom prst="roundRect">
            <a:avLst>
              <a:gd name="adj" fmla="val 12000"/>
            </a:avLst>
          </a:prstGeom>
          <a:solidFill>
            <a:srgbClr val="E4F4F1"/>
          </a:solidFill>
          <a:ln>
            <a:solidFill>
              <a:srgbClr val="E4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1911095"/>
            <a:ext cx="4892040" cy="283464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877E"/>
                </a:solidFill>
                <a:latin typeface="Aptos"/>
              </a:rPr>
              <a:t>FUTURE 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450592"/>
            <a:ext cx="5285232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2587752"/>
            <a:ext cx="50292" cy="329184"/>
          </a:xfrm>
          <a:prstGeom prst="rect">
            <a:avLst/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91656" y="2511224"/>
            <a:ext cx="50292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8253D"/>
                </a:solidFill>
                <a:latin typeface="Aptos"/>
              </a:rPr>
              <a:t>Compare alternative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2738963"/>
            <a:ext cx="5010912" cy="184666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Test additional classifiers and tune hyperparameters using consistent validation.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182112"/>
            <a:ext cx="5285232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319272"/>
            <a:ext cx="50292" cy="329184"/>
          </a:xfrm>
          <a:prstGeom prst="rect">
            <a:avLst/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3242744"/>
            <a:ext cx="50292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8253D"/>
                </a:solidFill>
                <a:latin typeface="Aptos"/>
              </a:rPr>
              <a:t>Aspect-based sentiment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3470483"/>
            <a:ext cx="5010912" cy="184666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Separate opinions about fit, fabric, quality, comfort, and appearance.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913632"/>
            <a:ext cx="5285232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4050792"/>
            <a:ext cx="50292" cy="329184"/>
          </a:xfrm>
          <a:prstGeom prst="rect">
            <a:avLst/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91656" y="3974264"/>
            <a:ext cx="50292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8253D"/>
                </a:solidFill>
                <a:latin typeface="Aptos"/>
              </a:rPr>
              <a:t>Track themes over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4202003"/>
            <a:ext cx="5010912" cy="184666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Monitor changes in recurring complaints and positive themes across product releases.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4645152"/>
            <a:ext cx="5285232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63640" y="4782312"/>
            <a:ext cx="50292" cy="329184"/>
          </a:xfrm>
          <a:prstGeom prst="rect">
            <a:avLst/>
          </a:prstGeom>
          <a:solidFill>
            <a:srgbClr val="10877E"/>
          </a:solidFill>
          <a:ln>
            <a:solidFill>
              <a:srgbClr val="108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91656" y="4705784"/>
            <a:ext cx="5029200" cy="310896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8253D"/>
                </a:solidFill>
                <a:latin typeface="Aptos"/>
              </a:rPr>
              <a:t>Validate across contexts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4933523"/>
            <a:ext cx="5010912" cy="184666"/>
          </a:xfrm>
          <a:prstGeom prst="rect">
            <a:avLst/>
          </a:prstGeom>
          <a:noFill/>
        </p:spPr>
        <p:txBody>
          <a:bodyPr wrap="square" lIns="54864" tIns="22860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77487"/>
                </a:solidFill>
                <a:latin typeface="Aptos"/>
              </a:rPr>
              <a:t>Test on other retailers, product categories, and time periods before wider use.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715000"/>
            <a:ext cx="10863072" cy="566928"/>
          </a:xfrm>
          <a:prstGeom prst="roundRect">
            <a:avLst>
              <a:gd name="adj" fmla="val 12000"/>
            </a:avLst>
          </a:prstGeom>
          <a:solidFill>
            <a:srgbClr val="18253D"/>
          </a:solidFill>
          <a:ln>
            <a:solidFill>
              <a:srgbClr val="18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" y="5806440"/>
            <a:ext cx="10378440" cy="365760"/>
          </a:xfrm>
          <a:prstGeom prst="rect">
            <a:avLst/>
          </a:prstGeom>
          <a:noFill/>
        </p:spPr>
        <p:txBody>
          <a:bodyPr wrap="square" lIns="54864" tIns="22860" rIns="54864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Aptos"/>
              </a:rPr>
              <a:t>KEY TAKEAWAY  •  Customer reviews can become structured signals for better product questions, clearer information, and more evidence-informed retail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822</Words>
  <Application>Microsoft Office PowerPoint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Nitya Dhulipala</cp:lastModifiedBy>
  <cp:revision>1</cp:revision>
  <dcterms:created xsi:type="dcterms:W3CDTF">2013-01-27T09:14:16Z</dcterms:created>
  <dcterms:modified xsi:type="dcterms:W3CDTF">2026-10-01T04:54:55Z</dcterms:modified>
  <cp:category/>
</cp:coreProperties>
</file>